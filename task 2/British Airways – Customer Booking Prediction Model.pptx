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281" r:id="rId7"/>
    <p:sldId id="282" r:id="rId8"/>
    <p:sldId id="315" r:id="rId9"/>
    <p:sldId id="317" r:id="rId10"/>
    <p:sldId id="318" r:id="rId11"/>
    <p:sldId id="322" r:id="rId12"/>
    <p:sldId id="319" r:id="rId13"/>
    <p:sldId id="321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11ACF-3D92-4D80-B398-B58ED45A6514}" v="11" dt="2026-06-02T17:53:02.668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deep Tandel" userId="5526606c30788ff5" providerId="LiveId" clId="{871ECC07-42F6-446B-B463-1E90D2457339}"/>
    <pc:docChg chg="custSel addSld modSld">
      <pc:chgData name="Jaydeep Tandel" userId="5526606c30788ff5" providerId="LiveId" clId="{871ECC07-42F6-446B-B463-1E90D2457339}" dt="2026-06-02T17:53:02.666" v="26" actId="1076"/>
      <pc:docMkLst>
        <pc:docMk/>
      </pc:docMkLst>
      <pc:sldChg chg="addSp delSp modSp mod">
        <pc:chgData name="Jaydeep Tandel" userId="5526606c30788ff5" providerId="LiveId" clId="{871ECC07-42F6-446B-B463-1E90D2457339}" dt="2026-06-02T17:51:56.875" v="10" actId="14100"/>
        <pc:sldMkLst>
          <pc:docMk/>
          <pc:sldMk cId="4072101725" sldId="318"/>
        </pc:sldMkLst>
        <pc:spChg chg="add">
          <ac:chgData name="Jaydeep Tandel" userId="5526606c30788ff5" providerId="LiveId" clId="{871ECC07-42F6-446B-B463-1E90D2457339}" dt="2026-06-02T17:51:19.620" v="0"/>
          <ac:spMkLst>
            <pc:docMk/>
            <pc:sldMk cId="4072101725" sldId="318"/>
            <ac:spMk id="4" creationId="{15A36DA1-1C7C-FD04-67DA-3E6BB6BF52E3}"/>
          </ac:spMkLst>
        </pc:spChg>
        <pc:spChg chg="add mod">
          <ac:chgData name="Jaydeep Tandel" userId="5526606c30788ff5" providerId="LiveId" clId="{871ECC07-42F6-446B-B463-1E90D2457339}" dt="2026-06-02T17:51:56.875" v="10" actId="14100"/>
          <ac:spMkLst>
            <pc:docMk/>
            <pc:sldMk cId="4072101725" sldId="318"/>
            <ac:spMk id="5" creationId="{E53EADE1-2AF8-FD78-368C-B1502C879D2A}"/>
          </ac:spMkLst>
        </pc:spChg>
        <pc:spChg chg="del mod">
          <ac:chgData name="Jaydeep Tandel" userId="5526606c30788ff5" providerId="LiveId" clId="{871ECC07-42F6-446B-B463-1E90D2457339}" dt="2026-06-02T17:51:22.657" v="2"/>
          <ac:spMkLst>
            <pc:docMk/>
            <pc:sldMk cId="4072101725" sldId="318"/>
            <ac:spMk id="17" creationId="{FB63526D-830B-31E0-CAB5-703B38ADF505}"/>
          </ac:spMkLst>
        </pc:spChg>
        <pc:graphicFrameChg chg="del">
          <ac:chgData name="Jaydeep Tandel" userId="5526606c30788ff5" providerId="LiveId" clId="{871ECC07-42F6-446B-B463-1E90D2457339}" dt="2026-06-02T17:51:29.654" v="3" actId="478"/>
          <ac:graphicFrameMkLst>
            <pc:docMk/>
            <pc:sldMk cId="4072101725" sldId="318"/>
            <ac:graphicFrameMk id="19" creationId="{8C1F407E-86BB-7504-4EC0-2EBEA0853C8E}"/>
          </ac:graphicFrameMkLst>
        </pc:graphicFrameChg>
      </pc:sldChg>
      <pc:sldChg chg="addSp delSp modSp add mod">
        <pc:chgData name="Jaydeep Tandel" userId="5526606c30788ff5" providerId="LiveId" clId="{871ECC07-42F6-446B-B463-1E90D2457339}" dt="2026-06-02T17:53:02.666" v="26" actId="1076"/>
        <pc:sldMkLst>
          <pc:docMk/>
          <pc:sldMk cId="3576393312" sldId="322"/>
        </pc:sldMkLst>
        <pc:spChg chg="mod">
          <ac:chgData name="Jaydeep Tandel" userId="5526606c30788ff5" providerId="LiveId" clId="{871ECC07-42F6-446B-B463-1E90D2457339}" dt="2026-06-02T17:53:00.739" v="25" actId="1076"/>
          <ac:spMkLst>
            <pc:docMk/>
            <pc:sldMk cId="3576393312" sldId="322"/>
            <ac:spMk id="3" creationId="{D13A9E45-8328-6782-96E7-6629B41F589D}"/>
          </ac:spMkLst>
        </pc:spChg>
        <pc:spChg chg="del mod">
          <ac:chgData name="Jaydeep Tandel" userId="5526606c30788ff5" providerId="LiveId" clId="{871ECC07-42F6-446B-B463-1E90D2457339}" dt="2026-06-02T17:52:27.367" v="13" actId="22"/>
          <ac:spMkLst>
            <pc:docMk/>
            <pc:sldMk cId="3576393312" sldId="322"/>
            <ac:spMk id="5" creationId="{00A7F0AC-A13D-C9F9-772F-B1FD97B25925}"/>
          </ac:spMkLst>
        </pc:spChg>
        <pc:picChg chg="add mod ord">
          <ac:chgData name="Jaydeep Tandel" userId="5526606c30788ff5" providerId="LiveId" clId="{871ECC07-42F6-446B-B463-1E90D2457339}" dt="2026-06-02T17:53:02.666" v="26" actId="1076"/>
          <ac:picMkLst>
            <pc:docMk/>
            <pc:sldMk cId="3576393312" sldId="322"/>
            <ac:picMk id="6" creationId="{7CB7C50A-E7D1-46B9-0CB2-AD6FF9B6A83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FF496-C05A-01E6-A479-FFC35244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BFF7A-A74D-D7F6-F123-3676CA355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2C163-60A4-398F-5A56-8749B9DF4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28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IN" dirty="0"/>
              <a:t>British Airways – Customer Booking Prediction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Objective </a:t>
            </a:r>
          </a:p>
          <a:p>
            <a:r>
              <a:rPr lang="en-IN" dirty="0"/>
              <a:t>Data Preparation </a:t>
            </a:r>
          </a:p>
          <a:p>
            <a:r>
              <a:rPr lang="en-IN" dirty="0"/>
              <a:t>Model Development </a:t>
            </a:r>
          </a:p>
          <a:p>
            <a:r>
              <a:rPr lang="en-IN" dirty="0"/>
              <a:t>Model Performance </a:t>
            </a:r>
          </a:p>
          <a:p>
            <a:r>
              <a:rPr lang="en-IN" dirty="0"/>
              <a:t>Key Drivers of Booking Completion </a:t>
            </a:r>
          </a:p>
          <a:p>
            <a:r>
              <a:rPr lang="en-IN" dirty="0"/>
              <a:t>Business Insights &amp; Recommendations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IN" dirty="0"/>
              <a:t>Objective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IN" dirty="0"/>
              <a:t>To predict customer booking behaviour and understand what factors make customers more likely to complete a booking.</a:t>
            </a:r>
            <a:endParaRPr lang="en-US" dirty="0"/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Data Preparation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D0F6DC8-B823-E0A7-F093-80D6AC181B2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60750" y="2482433"/>
            <a:ext cx="817524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Reviewed the customer booking dataset.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Checked for missing values and data quality issues.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Converted categorical variables (e.g., sales channel, trip type, route, booking origin) into numerical values using Label Encoding.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Converted flight day from text format (Mon, Tue, Wed, etc.) into numerical values.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Separated the data into: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Features (X):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customer and booking information.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Target (y):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booking completion (0 = No Booking, 1 = Booking Completed).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Split the dataset into training data (80%) and testing data (20%) for model development. 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N" dirty="0"/>
              <a:t>Model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C6E46E5-BBAF-CADF-E0CE-E914A7ED0E0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83226" y="2669227"/>
            <a:ext cx="692190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Selected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 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as the machine learning algorithm.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Trained the model using 80% of the dataset.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Used the remaining 20% of the data for testing.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Generated predictions on customer booking completion.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Evaluated model performance using accuracy, classification metrics, and cross-validation.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Analyzed feature importance to identify the key factors influencing booking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IN" dirty="0"/>
              <a:t>Model Performance</a:t>
            </a:r>
            <a:endParaRPr lang="en-US" dirty="0"/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776DD8-E7A5-BE45-5F57-52BECE038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446653"/>
              </p:ext>
            </p:extLst>
          </p:nvPr>
        </p:nvGraphicFramePr>
        <p:xfrm>
          <a:off x="758825" y="4795327"/>
          <a:ext cx="7942724" cy="1097280"/>
        </p:xfrm>
        <a:graphic>
          <a:graphicData uri="http://schemas.openxmlformats.org/drawingml/2006/table">
            <a:tbl>
              <a:tblPr/>
              <a:tblGrid>
                <a:gridCol w="3971362">
                  <a:extLst>
                    <a:ext uri="{9D8B030D-6E8A-4147-A177-3AD203B41FA5}">
                      <a16:colId xmlns:a16="http://schemas.microsoft.com/office/drawing/2014/main" val="1994801625"/>
                    </a:ext>
                  </a:extLst>
                </a:gridCol>
                <a:gridCol w="3971362">
                  <a:extLst>
                    <a:ext uri="{9D8B030D-6E8A-4147-A177-3AD203B41FA5}">
                      <a16:colId xmlns:a16="http://schemas.microsoft.com/office/drawing/2014/main" val="2070610388"/>
                    </a:ext>
                  </a:extLst>
                </a:gridCol>
              </a:tblGrid>
              <a:tr h="322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accent6"/>
                          </a:solidFill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116057"/>
                  </a:ext>
                </a:extLst>
              </a:tr>
              <a:tr h="322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accent6"/>
                          </a:solidFill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accent6"/>
                          </a:solidFill>
                        </a:rPr>
                        <a:t>85.41%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879758"/>
                  </a:ext>
                </a:extLst>
              </a:tr>
              <a:tr h="322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accent6"/>
                          </a:solidFill>
                        </a:rPr>
                        <a:t>Cross-Validation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accent6"/>
                          </a:solidFill>
                        </a:rPr>
                        <a:t>48.56%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275942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527B4B7A-11E9-EF6A-B2C2-97E0C8FFD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" y="464952"/>
            <a:ext cx="7631711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accent6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accent6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accent6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accent6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Random Forest model achieved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accuracy of 85.41%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Average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cross-validation score: 48.56%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The model performed well on the test dataset but showed lower consistency across different data samples.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This suggests the model can predict bookings reasonably well, but further tuning could improve reliability.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900" b="1" dirty="0">
              <a:solidFill>
                <a:schemeClr val="accent6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Key Metrics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IN" dirty="0"/>
              <a:t>Key Drivers of Booking Completion</a:t>
            </a:r>
            <a:endParaRPr lang="en-US" dirty="0"/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3EADE1-2AF8-FD78-368C-B1502C879D2A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914401" y="2269272"/>
            <a:ext cx="807505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Purchase Lead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was the most important factor. This means customers who book their flights well in advance are more likely to complete their booking.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was the second most important factor. Some flight routes are more popular and have higher booking completion rates than others.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Flight Hour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also played an important role. The time of departure can influence a customer's decision to book.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Length of Stay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was another key factor. The number of days a customer plans to stay at their destination affects booking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Booking Origin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was important as well. Customers from different countries may have different booking patterns and preferences. 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6A935-DD9A-87AC-FEE6-F5A17FFE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3A9E45-8328-6782-96E7-6629B41F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390" y="521416"/>
            <a:ext cx="7843837" cy="1012782"/>
          </a:xfrm>
        </p:spPr>
        <p:txBody>
          <a:bodyPr/>
          <a:lstStyle/>
          <a:p>
            <a:r>
              <a:rPr lang="en-IN" dirty="0"/>
              <a:t>Chart</a:t>
            </a:r>
            <a:endParaRPr lang="en-US" dirty="0"/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E901AA45-042B-2399-8145-97B6BF35A14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CAF0A7-B715-3B64-852A-BF233D1F6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B7C50A-E7D1-46B9-0CB2-AD6FF9B6A83B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 bwMode="auto">
          <a:xfrm>
            <a:off x="1956619" y="1710813"/>
            <a:ext cx="5663381" cy="4208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6393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IN" dirty="0"/>
              <a:t>Business Insights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9540223" cy="370426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Customers who book flights earlier are more likely to complete their booking.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Flight route and departure time play an important role in customer decisions.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Customer travel patterns, such as length of stay and booking origin, help predict booking behaviour.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Additional services (baggage, meals, and preferred seats) have less influence on booking completion.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IN" dirty="0"/>
              <a:t>Recommendations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8694649" cy="3961593"/>
          </a:xfrm>
        </p:spPr>
        <p:txBody>
          <a:bodyPr>
            <a:normAutofit/>
          </a:bodyPr>
          <a:lstStyle/>
          <a:p>
            <a:r>
              <a:rPr lang="en-IN" dirty="0"/>
              <a:t>Target customers who book well in advance with personalized offers and promotions. </a:t>
            </a:r>
          </a:p>
          <a:p>
            <a:r>
              <a:rPr lang="en-IN" dirty="0"/>
              <a:t>Focus marketing campaigns on key routes and peak booking periods. </a:t>
            </a:r>
          </a:p>
          <a:p>
            <a:r>
              <a:rPr lang="en-IN" dirty="0"/>
              <a:t>Use customer booking patterns to improve targeting and increase conversion rates. </a:t>
            </a:r>
          </a:p>
          <a:p>
            <a:r>
              <a:rPr lang="en-IN" dirty="0"/>
              <a:t>Continue improving the model by adding more customer and booking data to increase prediction accuracy.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065145"/>
            <a:ext cx="5715000" cy="2727709"/>
          </a:xfrm>
        </p:spPr>
        <p:txBody>
          <a:bodyPr/>
          <a:lstStyle/>
          <a:p>
            <a:r>
              <a:rPr lang="en-US" sz="7200" dirty="0"/>
              <a:t>Thank </a:t>
            </a:r>
            <a:br>
              <a:rPr lang="en-US" sz="7200" dirty="0"/>
            </a:br>
            <a:r>
              <a:rPr lang="en-US" sz="72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{4EFCE411-284B-4DB8-9503-99BEC2BED3AE}TF8a9b5915-b8c7-461e-8cdd-693d48b5e32371f7b7e2_win32-4bf0b9a2ea37</Template>
  <TotalTime>25</TotalTime>
  <Words>527</Words>
  <Application>Microsoft Office PowerPoint</Application>
  <PresentationFormat>Widescreen</PresentationFormat>
  <Paragraphs>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Sabon Next LT</vt:lpstr>
      <vt:lpstr>Custom</vt:lpstr>
      <vt:lpstr>British Airways – Customer Booking Prediction Model</vt:lpstr>
      <vt:lpstr>agenda</vt:lpstr>
      <vt:lpstr>Objective</vt:lpstr>
      <vt:lpstr>Data Preparation</vt:lpstr>
      <vt:lpstr>Model Development</vt:lpstr>
      <vt:lpstr>Model Performance</vt:lpstr>
      <vt:lpstr>Key Drivers of Booking Completion</vt:lpstr>
      <vt:lpstr>Chart</vt:lpstr>
      <vt:lpstr>Business Insights</vt:lpstr>
      <vt:lpstr>Recommendations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Jaydeep Tandel</dc:creator>
  <cp:lastModifiedBy>Jaydeep Tandel</cp:lastModifiedBy>
  <cp:revision>1</cp:revision>
  <dcterms:created xsi:type="dcterms:W3CDTF">2026-06-02T17:03:05Z</dcterms:created>
  <dcterms:modified xsi:type="dcterms:W3CDTF">2026-06-02T17:53:06Z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